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A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66760" y="-1417320"/>
            <a:ext cx="6035040" cy="6035040"/>
          </a:xfrm>
          <a:prstGeom prst="ellipse">
            <a:avLst/>
          </a:prstGeom>
          <a:noFill/>
          <a:ln w="15875">
            <a:solidFill>
              <a:srgbClr val="C6A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4434840"/>
            <a:ext cx="2148840" cy="2148840"/>
          </a:xfrm>
          <a:prstGeom prst="ellipse">
            <a:avLst/>
          </a:prstGeom>
          <a:noFill/>
          <a:ln w="15875">
            <a:solidFill>
              <a:srgbClr val="2F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685800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E7D3BE"/>
                </a:solidFill>
                <a:latin typeface="WenQuanYi Micro Hei"/>
                <a:ea typeface="WenQuanYi Micro Hei"/>
                <a:cs typeface="WenQuanYi Micro Hei"/>
              </a:rPr>
              <a:t>环境公开课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7498079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944368"/>
            <a:ext cx="1234440" cy="27432"/>
          </a:xfrm>
          <a:prstGeom prst="rect">
            <a:avLst/>
          </a:prstGeom>
          <a:solidFill>
            <a:srgbClr val="C6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82112"/>
            <a:ext cx="6949440" cy="10515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0" lang="zh-CN" altLang="en-US" dirty="0">
                <a:solidFill>
                  <a:srgbClr val="E4EFE8"/>
                </a:solidFill>
                <a:latin typeface="WenQuanYi Micro Hei"/>
                <a:ea typeface="WenQuanYi Micro Hei"/>
                <a:cs typeface="WenQuanYi Micro Hei"/>
              </a:rPr>
              <a:t>看清正在发生的变化，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E4EFE8"/>
                </a:solidFill>
                <a:latin typeface="WenQuanYi Micro Hei"/>
                <a:ea typeface="WenQuanYi Micro Hei"/>
                <a:cs typeface="WenQuanYi Micro Hei"/>
              </a:rPr>
              <a:t>从身边的一件小事做起。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685800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C5D6CC"/>
                </a:solidFill>
                <a:latin typeface="WenQuanYi Micro Hei"/>
                <a:ea typeface="WenQuanYi Micro Hei"/>
                <a:cs typeface="WenQuanYi Micro Hei"/>
              </a:rPr>
              <a:t>理解    ·    选择    ·    行动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02   ·   为什么重要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为什么要保护环境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环境不是远处的风景，而是每天都在用的生活条件。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56816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56816"/>
            <a:ext cx="114300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健康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1920240"/>
            <a:ext cx="4709160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干净的空气、水和食物，都来自还好的环境。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24912"/>
            <a:ext cx="6903720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35808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035808"/>
            <a:ext cx="114300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999232"/>
            <a:ext cx="4709160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酷暑、暴雨和污染，会直接影响居住与出行。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803904"/>
            <a:ext cx="6903720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14800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114800"/>
            <a:ext cx="114300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4078224"/>
            <a:ext cx="4709160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环境可以坏得很快，恢复却常常要几十年。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82896"/>
            <a:ext cx="6903720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193792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5193792"/>
            <a:ext cx="114300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责任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5157216"/>
            <a:ext cx="4709160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我们留下的环境，就是下一代起步的地方。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1645920"/>
            <a:ext cx="3657600" cy="4242816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1645920"/>
            <a:ext cx="3657600" cy="50292"/>
          </a:xfrm>
          <a:prstGeom prst="rect">
            <a:avLst/>
          </a:prstGeom>
          <a:solidFill>
            <a:srgbClr val="8A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2697480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8A5A30"/>
                </a:solidFill>
                <a:latin typeface="WenQuanYi Micro Hei"/>
                <a:ea typeface="WenQuanYi Micro Hei"/>
                <a:cs typeface="WenQuanYi Micro Hei"/>
              </a:rPr>
              <a:t>一句话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127248"/>
            <a:ext cx="3108960" cy="21031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能安心呼吸、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喝水、吃饭，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环境就还好。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03   ·   气候变化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气候变化，已经写进日常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它不只是气温表上的数字。热浪、暴雨和干旱会变得更常见。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5364480" cy="14813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45920"/>
            <a:ext cx="536448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490728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9424"/>
            <a:ext cx="4852416" cy="6858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燃烧煤炭、石油和天然气，是温室气体的主要来源。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9152" y="1645920"/>
            <a:ext cx="5364480" cy="14813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9152" y="1645920"/>
            <a:ext cx="536448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5184" y="1847088"/>
            <a:ext cx="490728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天气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5184" y="2249424"/>
            <a:ext cx="4852416" cy="6858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热浪、强降雨和干旱，出现得比过去更频繁。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73552"/>
            <a:ext cx="5364480" cy="14813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73552"/>
            <a:ext cx="536448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74720"/>
            <a:ext cx="490728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海岸与水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77056"/>
            <a:ext cx="4852416" cy="6858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冰川退缩、海平面上升，影响沿海社区和农田。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9152" y="3273552"/>
            <a:ext cx="5364480" cy="14813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9152" y="3273552"/>
            <a:ext cx="536448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5184" y="3474720"/>
            <a:ext cx="490728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5184" y="3877056"/>
            <a:ext cx="4852416" cy="6858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少排放、提高能效，并让清洁能源更好用。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19472"/>
            <a:ext cx="10875264" cy="713232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19472"/>
            <a:ext cx="10418064" cy="713232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和工业化之前相比，全球平均气温已经上升了 1 摄氏度以上。越早减少排放，以后要付出的代价越小。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04   ·   污染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空气、水与土壤连在一起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污染很少只停在一个地方。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3515360" cy="269748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45920"/>
            <a:ext cx="351536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93392"/>
            <a:ext cx="30581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空气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97480"/>
            <a:ext cx="3058160" cy="2011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燃煤、工厂和汽车尾气，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会带来细颗粒物，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影响呼吸和心脏。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20" y="1645920"/>
            <a:ext cx="3515360" cy="269748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8320" y="1645920"/>
            <a:ext cx="3515360" cy="50292"/>
          </a:xfrm>
          <a:prstGeom prst="rect">
            <a:avLst/>
          </a:prstGeom>
          <a:solidFill>
            <a:srgbClr val="245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6064" y="1993392"/>
            <a:ext cx="30581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lang="zh-CN" altLang="en-US" dirty="0">
                <a:solidFill>
                  <a:srgbClr val="245C64"/>
                </a:solidFill>
                <a:latin typeface="WenQuanYi Micro Hei"/>
                <a:ea typeface="WenQuanYi Micro Hei"/>
                <a:cs typeface="WenQuanYi Micro Hei"/>
              </a:rPr>
              <a:t>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6064" y="2697480"/>
            <a:ext cx="3058160" cy="2011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污水、化肥和垃圾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进入河流湖泊后，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饮水和渔业都会受影响。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8272" y="1645920"/>
            <a:ext cx="3515360" cy="269748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8272" y="1645920"/>
            <a:ext cx="3515360" cy="50292"/>
          </a:xfrm>
          <a:prstGeom prst="rect">
            <a:avLst/>
          </a:prstGeom>
          <a:solidFill>
            <a:srgbClr val="8A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6016" y="1993392"/>
            <a:ext cx="30581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lang="zh-CN" altLang="en-US" dirty="0">
                <a:solidFill>
                  <a:srgbClr val="8A5A30"/>
                </a:solidFill>
                <a:latin typeface="WenQuanYi Micro Hei"/>
                <a:ea typeface="WenQuanYi Micro Hei"/>
                <a:cs typeface="WenQuanYi Micro Hei"/>
              </a:rPr>
              <a:t>土壤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6016" y="2697480"/>
            <a:ext cx="3058160" cy="2011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农药、重金属和塑料碎屑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会留在土里，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再进入食物。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507992"/>
            <a:ext cx="10875264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它们常常连在一起：空气里的污染物会沉降，污水会渗进土壤，土壤里的残留又可能回到餐桌。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05   ·   生物多样性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生物多样性正在变少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280160"/>
            <a:ext cx="3977639" cy="4160520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31720"/>
            <a:ext cx="3337559" cy="18288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物种变少，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失去的往往是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一整项生态功能。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63440"/>
            <a:ext cx="3337559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D5E6DC"/>
                </a:solidFill>
                <a:latin typeface="WenQuanYi Micro Hei"/>
                <a:ea typeface="WenQuanYi Micro Hei"/>
                <a:cs typeface="WenQuanYi Micro Hei"/>
              </a:rPr>
              <a:t>保护栖息地，就是在保护这些功能。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7" y="1280160"/>
            <a:ext cx="1234440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传粉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7" y="1280160"/>
            <a:ext cx="5205984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蜜蜂等传粉昆虫减少后，许多水果和作物会受影响。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7" y="2320289"/>
            <a:ext cx="657758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7" y="2320289"/>
            <a:ext cx="1234440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水源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7" y="2320289"/>
            <a:ext cx="5205984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森林和湿地能蓄水、净化水质，也能减轻洪水。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7" y="3360420"/>
            <a:ext cx="657758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7" y="3360420"/>
            <a:ext cx="1234440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栖息地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3360420"/>
            <a:ext cx="5205984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毁林、过度捕捞，会把物种的住处越切越小。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7" y="4400550"/>
            <a:ext cx="657758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7" y="4400550"/>
            <a:ext cx="1234440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保护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4400550"/>
            <a:ext cx="5205984" cy="104013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先把栖息地留下来，通常比消失之后再补救更有效。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41847"/>
            <a:ext cx="10875264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一份政府间科学评估指出：约有一百万个物种正面临灭绝风险。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06   ·   垃圾与塑料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用得短，留得久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不少塑料只用几分钟，留在环境里却要很多年。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3515360" cy="26060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45920"/>
            <a:ext cx="351536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01952"/>
            <a:ext cx="3058160" cy="43891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487168"/>
            <a:ext cx="3058160" cy="38404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少用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063240"/>
            <a:ext cx="3058160" cy="10972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能不拿的一次性杯子、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袋子和餐具。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320" y="1645920"/>
            <a:ext cx="3515360" cy="26060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320" y="1645920"/>
            <a:ext cx="351536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6064" y="1901952"/>
            <a:ext cx="3058160" cy="43891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6064" y="2487168"/>
            <a:ext cx="3058160" cy="38404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重复用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6064" y="3063240"/>
            <a:ext cx="3058160" cy="10972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用水杯、布袋和盒子，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代替用完即弃的包装。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8272" y="1645920"/>
            <a:ext cx="3515360" cy="26060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8272" y="1645920"/>
            <a:ext cx="3515360" cy="50292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6016" y="1901952"/>
            <a:ext cx="3058160" cy="43891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6016" y="2487168"/>
            <a:ext cx="3058160" cy="38404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再分类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6016" y="3063240"/>
            <a:ext cx="3058160" cy="10972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按当地规则投放。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电池和药品要单独处理。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434840"/>
            <a:ext cx="10875264" cy="658368"/>
          </a:xfrm>
          <a:prstGeom prst="rect">
            <a:avLst/>
          </a:prstGeom>
          <a:solidFill>
            <a:srgbClr val="F3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34840"/>
            <a:ext cx="10418064" cy="6583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进入河流和海洋后，塑料可能被鸟类和鱼类误食。少产生，比事后打捞更重要。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07   ·   政府与企业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政府与企业能做什么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规则和产品设计，决定了环保选择是否方便。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5346192" cy="41605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45920"/>
            <a:ext cx="5346192" cy="56692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4888992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政府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4834128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把标准定清楚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79776"/>
            <a:ext cx="4834128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排放、排污和自然保护区，既要有规则，也要执行。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11296"/>
            <a:ext cx="4834128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把设施建好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8"/>
            <a:ext cx="4834128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公交、污水处理和清洁能源，都需要公共投入。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4834128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让好的选择更容易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4834128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低碳的做法应当更方便，也更负担得起。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440" y="1645920"/>
            <a:ext cx="5346192" cy="41605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440" y="1645920"/>
            <a:ext cx="5346192" cy="56692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3472" y="1645920"/>
            <a:ext cx="4888992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472" y="2432304"/>
            <a:ext cx="4834128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设计时就减少浪费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472" y="2779776"/>
            <a:ext cx="4834128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包装和一次性材料，在设计阶段就可以减下来。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472" y="3511296"/>
            <a:ext cx="4834128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节能，并公开信息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472" y="3858768"/>
            <a:ext cx="4834128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能源怎么用、影响是什么，说清楚才便于监督。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472" y="4590288"/>
            <a:ext cx="4834128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放进日常经营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3472" y="4937759"/>
            <a:ext cx="4834128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采购、生产和运输里的改变，比一次宣传更有用。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08   ·   个人行动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个人能做什么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一个人改变不了全部，但会改变家庭和身边的风气。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10875264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45920"/>
            <a:ext cx="1691640" cy="102412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645920"/>
            <a:ext cx="1691640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1645920"/>
            <a:ext cx="8634984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能走路、骑车或坐公交的时候，少开一次车。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79776"/>
            <a:ext cx="10875264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1691640" cy="102412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79776"/>
            <a:ext cx="1691640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家里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779776"/>
            <a:ext cx="8634984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随手关灯。夏天空调不必过低，冬天也不必过高。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13632"/>
            <a:ext cx="10875264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13632"/>
            <a:ext cx="1691640" cy="102412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913632"/>
            <a:ext cx="1691640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消费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913632"/>
            <a:ext cx="8634984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少买用不上的东西，优先选择耐用、能修的。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047488"/>
            <a:ext cx="10875264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047488"/>
            <a:ext cx="1691640" cy="102412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47488"/>
            <a:ext cx="1691640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参与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9192" y="5047488"/>
            <a:ext cx="8634984" cy="10241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在学校、社区和工作单位，支持具体的环保做法。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09   ·   马上能做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五个马上能做的习惯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不需要新设备，今天就可以开始。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09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1810512"/>
            <a:ext cx="457200" cy="457200"/>
          </a:xfrm>
          <a:prstGeom prst="ellipse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10052304" cy="8229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自带水杯，少领一次性杯子。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633472"/>
            <a:ext cx="457200" cy="457200"/>
          </a:xfrm>
          <a:prstGeom prst="ellipse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334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68880"/>
            <a:ext cx="10052304" cy="8229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购物自带袋子，不必要的塑料袋可以不拿。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456432"/>
            <a:ext cx="457200" cy="457200"/>
          </a:xfrm>
          <a:prstGeom prst="ellipse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4564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91840"/>
            <a:ext cx="10052304" cy="8229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先把家里的食物吃完，再决定要不要买。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279392"/>
            <a:ext cx="457200" cy="457200"/>
          </a:xfrm>
          <a:prstGeom prst="ellipse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2793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14800"/>
            <a:ext cx="10052304" cy="8229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按当地规则做垃圾分类，有害垃圾单独放。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5102352"/>
            <a:ext cx="457200" cy="457200"/>
          </a:xfrm>
          <a:prstGeom prst="ellipse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02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10052304" cy="8229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选定一个习惯告诉家人，一起做更容易坚持。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4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10   ·   澄清误会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75264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三个常见的误会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84048" cy="25603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10875264" cy="34747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把这三件事想清楚，行动会更稳。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E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3E4C45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10875264" cy="129844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45920"/>
            <a:ext cx="73152" cy="1298448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847088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 dirty="0">
                <a:solidFill>
                  <a:srgbClr val="8A5A30"/>
                </a:solidFill>
                <a:latin typeface="WenQuanYi Micro Hei"/>
                <a:ea typeface="WenQuanYi Micro Hei"/>
                <a:cs typeface="WenQuanYi Micro Hei"/>
              </a:rPr>
              <a:t>误会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1810512"/>
            <a:ext cx="9229344" cy="38404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环保就是去捡垃圾。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359152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其实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2322576"/>
            <a:ext cx="9229344" cy="42062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少产生垃圾，比捡起来更关键。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090672"/>
            <a:ext cx="10875264" cy="129844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090672"/>
            <a:ext cx="73152" cy="1298448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291840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 dirty="0">
                <a:solidFill>
                  <a:srgbClr val="8A5A30"/>
                </a:solidFill>
                <a:latin typeface="WenQuanYi Micro Hei"/>
                <a:ea typeface="WenQuanYi Micro Hei"/>
                <a:cs typeface="WenQuanYi Micro Hei"/>
              </a:rPr>
              <a:t>误会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255264"/>
            <a:ext cx="9229344" cy="38404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个人做什么都没有用。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803904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其实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767328"/>
            <a:ext cx="9229344" cy="42062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你的习惯会影响家庭、消费，以及你支持的做法。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535424"/>
            <a:ext cx="10875264" cy="129844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535424"/>
            <a:ext cx="73152" cy="1298448"/>
          </a:xfrm>
          <a:prstGeom prst="rect">
            <a:avLst/>
          </a:prstGeom>
          <a:solidFill>
            <a:srgbClr val="1E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736592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 dirty="0">
                <a:solidFill>
                  <a:srgbClr val="8A5A30"/>
                </a:solidFill>
                <a:latin typeface="WenQuanYi Micro Hei"/>
                <a:ea typeface="WenQuanYi Micro Hei"/>
                <a:cs typeface="WenQuanYi Micro Hei"/>
              </a:rPr>
              <a:t>误会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4700016"/>
            <a:ext cx="9229344" cy="38404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必须做得完美才算数。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248656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其实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5212080"/>
            <a:ext cx="9229344" cy="42062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能持续的小改变，比偶尔做一次更有用。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A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66760" y="-1417320"/>
            <a:ext cx="6035040" cy="6035040"/>
          </a:xfrm>
          <a:prstGeom prst="ellipse">
            <a:avLst/>
          </a:prstGeom>
          <a:noFill/>
          <a:ln w="15875">
            <a:solidFill>
              <a:srgbClr val="2F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914400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 dirty="0">
                <a:solidFill>
                  <a:srgbClr val="E7D3BE"/>
                </a:solidFill>
                <a:latin typeface="WenQuanYi Micro Hei"/>
                <a:ea typeface="WenQuanYi Micro Hei"/>
                <a:cs typeface="WenQuanYi Micro Hei"/>
              </a:rPr>
              <a:t>理解    ·    选择    ·    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144000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lang="zh-CN" altLang="en-US" dirty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从一件具体的事开始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3515360" cy="196596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3515360" cy="50292"/>
          </a:xfrm>
          <a:prstGeom prst="rect">
            <a:avLst/>
          </a:prstGeom>
          <a:solidFill>
            <a:srgbClr val="C6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40864"/>
            <a:ext cx="30581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本周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3058160" cy="10515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少用一次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一次性餐具。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320" y="2011680"/>
            <a:ext cx="3515360" cy="196596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320" y="2011680"/>
            <a:ext cx="3515360" cy="50292"/>
          </a:xfrm>
          <a:prstGeom prst="rect">
            <a:avLst/>
          </a:prstGeom>
          <a:solidFill>
            <a:srgbClr val="C6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6064" y="2340864"/>
            <a:ext cx="30581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6064" y="2834640"/>
            <a:ext cx="3058160" cy="10515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约好随手关灯，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空调也不开得过猛。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8272" y="2011680"/>
            <a:ext cx="3515360" cy="1965960"/>
          </a:xfrm>
          <a:prstGeom prst="rect">
            <a:avLst/>
          </a:prstGeom>
          <a:solidFill>
            <a:srgbClr val="FF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8272" y="2011680"/>
            <a:ext cx="3515360" cy="50292"/>
          </a:xfrm>
          <a:prstGeom prst="rect">
            <a:avLst/>
          </a:prstGeom>
          <a:solidFill>
            <a:srgbClr val="C6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6016" y="2340864"/>
            <a:ext cx="305816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 dirty="0">
                <a:solidFill>
                  <a:srgbClr val="1E5C44"/>
                </a:solidFill>
                <a:latin typeface="WenQuanYi Micro Hei"/>
                <a:ea typeface="WenQuanYi Micro Hei"/>
                <a:cs typeface="WenQuanYi Micro Hei"/>
              </a:rPr>
              <a:t>说出来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6016" y="2834640"/>
            <a:ext cx="3058160" cy="10515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把这个习惯告诉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lang="zh-CN" altLang="en-US" dirty="0">
                <a:solidFill>
                  <a:srgbClr val="1A2822"/>
                </a:solidFill>
                <a:latin typeface="WenQuanYi Micro Hei"/>
                <a:ea typeface="WenQuanYi Micro Hei"/>
                <a:cs typeface="WenQuanYi Micro Hei"/>
              </a:rPr>
              <a:t>一位家人或同事。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24528"/>
            <a:ext cx="10875264" cy="7772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lang="zh-CN" altLang="en-US" dirty="0">
                <a:solidFill>
                  <a:srgbClr val="E4EFE8"/>
                </a:solidFill>
                <a:latin typeface="WenQuanYi Micro Hei"/>
                <a:ea typeface="WenQuanYi Micro Hei"/>
                <a:cs typeface="WenQuanYi Micro Hei"/>
              </a:rPr>
              <a:t>环境保护不是遥不可及的口号，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zh-CN" altLang="en-US" dirty="0">
                <a:solidFill>
                  <a:srgbClr val="E4EFE8"/>
                </a:solidFill>
                <a:latin typeface="WenQuanYi Micro Hei"/>
                <a:ea typeface="WenQuanYi Micro Hei"/>
                <a:cs typeface="WenQuanYi Micro Hei"/>
              </a:rPr>
              <a:t>而是一连串可以重复的小决定。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510528"/>
            <a:ext cx="10875264" cy="10972"/>
          </a:xfrm>
          <a:prstGeom prst="rect">
            <a:avLst/>
          </a:prstGeom>
          <a:solidFill>
            <a:srgbClr val="2A5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65392"/>
            <a:ext cx="38404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C5D5CC"/>
                </a:solidFill>
                <a:latin typeface="WenQuanYi Micro Hei"/>
                <a:ea typeface="WenQuanYi Micro Hei"/>
                <a:cs typeface="WenQuanYi Micro Hei"/>
              </a:rPr>
              <a:t>环境保护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44912" y="6565392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 dirty="0">
                <a:solidFill>
                  <a:srgbClr val="C5D5CC"/>
                </a:solidFill>
                <a:latin typeface="WenQuanYi Micro Hei"/>
                <a:ea typeface="WenQuanYi Micro Hei"/>
                <a:cs typeface="WenQuanYi Micro 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WenQuanYi Micro Hei"/>
        <a:ea typeface="WenQuanYi Micro Hei"/>
        <a:cs typeface="WenQuanYi Micro 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WenQuanYi Micro Hei"/>
        <a:ea typeface="WenQuanYi Micro Hei"/>
        <a:cs typeface="WenQuanYi Micro 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环境保护</dc:title>
  <dc:subject>面向普通读者的环境公开课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教育</cp:category>
  <dc:language>zh-CN</dc:language>
</cp:coreProperties>
</file>